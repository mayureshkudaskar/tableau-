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68" r:id="rId3"/>
    <p:sldId id="274" r:id="rId4"/>
    <p:sldId id="267" r:id="rId5"/>
    <p:sldId id="257" r:id="rId6"/>
    <p:sldId id="258" r:id="rId7"/>
    <p:sldId id="259" r:id="rId8"/>
    <p:sldId id="260" r:id="rId9"/>
    <p:sldId id="261" r:id="rId10"/>
    <p:sldId id="271" r:id="rId11"/>
    <p:sldId id="266" r:id="rId12"/>
    <p:sldId id="262" r:id="rId13"/>
    <p:sldId id="272" r:id="rId14"/>
    <p:sldId id="265" r:id="rId15"/>
    <p:sldId id="263" r:id="rId16"/>
    <p:sldId id="264" r:id="rId17"/>
    <p:sldId id="273" r:id="rId18"/>
    <p:sldId id="276" r:id="rId19"/>
    <p:sldId id="275" r:id="rId20"/>
    <p:sldId id="27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 varScale="1">
        <p:scale>
          <a:sx n="86" d="100"/>
          <a:sy n="86" d="100"/>
        </p:scale>
        <p:origin x="4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30C0A-5464-4FE4-84EB-FF9C94016DF4}" type="datetimeFigureOut">
              <a:rPr lang="en-US" dirty="0"/>
              <a:t>7/6/2021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7/6/2021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C6404-AD6E-4860-8E75-697CA40B95DA}" type="datetimeFigureOut">
              <a:rPr lang="en-US" dirty="0"/>
              <a:t>7/6/2021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7/6/2021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7/6/2021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7/6/2021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7/6/2021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7/6/2021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7/6/2021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7/6/2021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7/6/2021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7/6/2021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327EE-B215-4127-A2CC-C0F03BF6C1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Retail  e-commerce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47607-B506-4398-B050-E1DFFEEF1F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                                           - Ashwini, </a:t>
            </a:r>
            <a:r>
              <a:rPr lang="en-IN" dirty="0" err="1"/>
              <a:t>Hanika</a:t>
            </a:r>
            <a:r>
              <a:rPr lang="en-IN" dirty="0"/>
              <a:t>, Kavita, </a:t>
            </a:r>
            <a:r>
              <a:rPr lang="en-IN" dirty="0" err="1"/>
              <a:t>Mayuresh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6476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D58E4-B195-45B8-A607-233D4036A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OBSERVATION affecting sales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927BEB2-FE62-4E4C-9EE5-E9971BC2FD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332948"/>
              </p:ext>
            </p:extLst>
          </p:nvPr>
        </p:nvGraphicFramePr>
        <p:xfrm>
          <a:off x="1648287" y="2919290"/>
          <a:ext cx="8895425" cy="2974017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077158">
                  <a:extLst>
                    <a:ext uri="{9D8B030D-6E8A-4147-A177-3AD203B41FA5}">
                      <a16:colId xmlns:a16="http://schemas.microsoft.com/office/drawing/2014/main" val="699281184"/>
                    </a:ext>
                  </a:extLst>
                </a:gridCol>
                <a:gridCol w="1464392">
                  <a:extLst>
                    <a:ext uri="{9D8B030D-6E8A-4147-A177-3AD203B41FA5}">
                      <a16:colId xmlns:a16="http://schemas.microsoft.com/office/drawing/2014/main" val="3897649844"/>
                    </a:ext>
                  </a:extLst>
                </a:gridCol>
                <a:gridCol w="1270775">
                  <a:extLst>
                    <a:ext uri="{9D8B030D-6E8A-4147-A177-3AD203B41FA5}">
                      <a16:colId xmlns:a16="http://schemas.microsoft.com/office/drawing/2014/main" val="1998315228"/>
                    </a:ext>
                  </a:extLst>
                </a:gridCol>
                <a:gridCol w="1270775">
                  <a:extLst>
                    <a:ext uri="{9D8B030D-6E8A-4147-A177-3AD203B41FA5}">
                      <a16:colId xmlns:a16="http://schemas.microsoft.com/office/drawing/2014/main" val="560216836"/>
                    </a:ext>
                  </a:extLst>
                </a:gridCol>
                <a:gridCol w="1270775">
                  <a:extLst>
                    <a:ext uri="{9D8B030D-6E8A-4147-A177-3AD203B41FA5}">
                      <a16:colId xmlns:a16="http://schemas.microsoft.com/office/drawing/2014/main" val="938294953"/>
                    </a:ext>
                  </a:extLst>
                </a:gridCol>
                <a:gridCol w="1270775">
                  <a:extLst>
                    <a:ext uri="{9D8B030D-6E8A-4147-A177-3AD203B41FA5}">
                      <a16:colId xmlns:a16="http://schemas.microsoft.com/office/drawing/2014/main" val="1601336733"/>
                    </a:ext>
                  </a:extLst>
                </a:gridCol>
                <a:gridCol w="1270775">
                  <a:extLst>
                    <a:ext uri="{9D8B030D-6E8A-4147-A177-3AD203B41FA5}">
                      <a16:colId xmlns:a16="http://schemas.microsoft.com/office/drawing/2014/main" val="2904058869"/>
                    </a:ext>
                  </a:extLst>
                </a:gridCol>
              </a:tblGrid>
              <a:tr h="50449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Column Observation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Non -Numeric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Blank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0 Value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Special Char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Negative Values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Comments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685705930"/>
                  </a:ext>
                </a:extLst>
              </a:tr>
              <a:tr h="39066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Invoice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 dirty="0">
                          <a:effectLst/>
                        </a:rPr>
                        <a:t>9288</a:t>
                      </a:r>
                      <a:endParaRPr lang="en-IN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>
                          <a:effectLst/>
                        </a:rPr>
                        <a:t> </a:t>
                      </a:r>
                      <a:endParaRPr lang="en-IN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>
                          <a:effectLst/>
                        </a:rPr>
                        <a:t> </a:t>
                      </a:r>
                      <a:endParaRPr lang="en-IN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>
                          <a:effectLst/>
                        </a:rPr>
                        <a:t> </a:t>
                      </a:r>
                      <a:endParaRPr lang="en-IN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>
                          <a:effectLst/>
                        </a:rPr>
                        <a:t> </a:t>
                      </a:r>
                      <a:endParaRPr lang="en-IN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Cancel orders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362362481"/>
                  </a:ext>
                </a:extLst>
              </a:tr>
              <a:tr h="5004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Stock Code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>
                          <a:effectLst/>
                        </a:rPr>
                        <a:t>2995</a:t>
                      </a:r>
                      <a:endParaRPr lang="en-IN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>
                          <a:effectLst/>
                        </a:rPr>
                        <a:t> </a:t>
                      </a:r>
                      <a:endParaRPr lang="en-IN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>
                          <a:effectLst/>
                        </a:rPr>
                        <a:t> </a:t>
                      </a:r>
                      <a:endParaRPr lang="en-IN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>
                          <a:effectLst/>
                        </a:rPr>
                        <a:t> </a:t>
                      </a:r>
                      <a:endParaRPr lang="en-IN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>
                          <a:effectLst/>
                        </a:rPr>
                        <a:t> </a:t>
                      </a:r>
                      <a:endParaRPr lang="en-IN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Values like gift card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867874126"/>
                  </a:ext>
                </a:extLst>
              </a:tr>
              <a:tr h="24454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Description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>
                          <a:effectLst/>
                        </a:rPr>
                        <a:t> </a:t>
                      </a:r>
                      <a:endParaRPr lang="en-IN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>
                          <a:effectLst/>
                        </a:rPr>
                        <a:t>1454</a:t>
                      </a:r>
                      <a:endParaRPr lang="en-IN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>
                          <a:effectLst/>
                        </a:rPr>
                        <a:t> </a:t>
                      </a:r>
                      <a:endParaRPr lang="en-IN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>
                          <a:effectLst/>
                        </a:rPr>
                        <a:t>68</a:t>
                      </a:r>
                      <a:endParaRPr lang="en-IN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>
                          <a:effectLst/>
                        </a:rPr>
                        <a:t> </a:t>
                      </a:r>
                      <a:endParaRPr lang="en-IN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437897698"/>
                  </a:ext>
                </a:extLst>
              </a:tr>
              <a:tr h="24454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Quantity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 dirty="0">
                          <a:effectLst/>
                        </a:rPr>
                        <a:t> </a:t>
                      </a:r>
                      <a:endParaRPr lang="en-IN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>
                          <a:effectLst/>
                        </a:rPr>
                        <a:t> </a:t>
                      </a:r>
                      <a:endParaRPr lang="en-IN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>
                          <a:effectLst/>
                        </a:rPr>
                        <a:t> </a:t>
                      </a:r>
                      <a:endParaRPr lang="en-IN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>
                          <a:effectLst/>
                        </a:rPr>
                        <a:t> </a:t>
                      </a:r>
                      <a:endParaRPr lang="en-IN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>
                          <a:effectLst/>
                        </a:rPr>
                        <a:t>1337</a:t>
                      </a:r>
                      <a:endParaRPr lang="en-IN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637642442"/>
                  </a:ext>
                </a:extLst>
              </a:tr>
              <a:tr h="24454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Unit Price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>
                          <a:effectLst/>
                        </a:rPr>
                        <a:t> </a:t>
                      </a:r>
                      <a:endParaRPr lang="en-IN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>
                          <a:effectLst/>
                        </a:rPr>
                        <a:t> </a:t>
                      </a:r>
                      <a:endParaRPr lang="en-IN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>
                          <a:effectLst/>
                        </a:rPr>
                        <a:t>2515</a:t>
                      </a:r>
                      <a:endParaRPr lang="en-IN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>
                          <a:effectLst/>
                        </a:rPr>
                        <a:t> </a:t>
                      </a:r>
                      <a:endParaRPr lang="en-IN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>
                          <a:effectLst/>
                        </a:rPr>
                        <a:t>2</a:t>
                      </a:r>
                      <a:endParaRPr lang="en-IN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266167582"/>
                  </a:ext>
                </a:extLst>
              </a:tr>
              <a:tr h="34440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Customer ID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>
                          <a:effectLst/>
                        </a:rPr>
                        <a:t> </a:t>
                      </a:r>
                      <a:endParaRPr lang="en-IN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>
                          <a:effectLst/>
                        </a:rPr>
                        <a:t>135080</a:t>
                      </a:r>
                      <a:endParaRPr lang="en-IN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>
                          <a:effectLst/>
                        </a:rPr>
                        <a:t> </a:t>
                      </a:r>
                      <a:endParaRPr lang="en-IN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>
                          <a:effectLst/>
                        </a:rPr>
                        <a:t> </a:t>
                      </a:r>
                      <a:endParaRPr lang="en-IN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>
                          <a:effectLst/>
                        </a:rPr>
                        <a:t> </a:t>
                      </a:r>
                      <a:endParaRPr lang="en-IN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680410751"/>
                  </a:ext>
                </a:extLst>
              </a:tr>
              <a:tr h="5004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Country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>
                          <a:effectLst/>
                        </a:rPr>
                        <a:t> </a:t>
                      </a:r>
                      <a:endParaRPr lang="en-IN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>
                          <a:effectLst/>
                        </a:rPr>
                        <a:t> </a:t>
                      </a:r>
                      <a:endParaRPr lang="en-IN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>
                          <a:effectLst/>
                        </a:rPr>
                        <a:t> </a:t>
                      </a:r>
                      <a:endParaRPr lang="en-IN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 dirty="0">
                          <a:effectLst/>
                        </a:rPr>
                        <a:t>446</a:t>
                      </a:r>
                      <a:endParaRPr lang="en-IN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b="1" dirty="0">
                          <a:effectLst/>
                        </a:rPr>
                        <a:t> </a:t>
                      </a:r>
                      <a:endParaRPr lang="en-IN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Unspecified values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757369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189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FAD06-1B14-4AD3-98EB-EAB49C4CE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Max benefited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5CE07-44C3-4AED-B90B-62C56DFE8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Top Customer id -14611</a:t>
            </a:r>
          </a:p>
          <a:p>
            <a:r>
              <a:rPr lang="en-US" dirty="0"/>
              <a:t>Top Description-Dotcom Postage</a:t>
            </a:r>
          </a:p>
          <a:p>
            <a:r>
              <a:rPr lang="en-US" dirty="0"/>
              <a:t>Top Country- </a:t>
            </a:r>
            <a:r>
              <a:rPr lang="en-US" dirty="0" err="1"/>
              <a:t>Uk</a:t>
            </a:r>
            <a:endParaRPr lang="en-US" dirty="0"/>
          </a:p>
          <a:p>
            <a:r>
              <a:rPr lang="en-US" dirty="0"/>
              <a:t>Top Stockcode-22423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390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E4091-D9DC-4FCF-8468-4128ED9E0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/>
          <a:lstStyle/>
          <a:p>
            <a:r>
              <a:rPr lang="en-IN" dirty="0"/>
              <a:t>SALES</a:t>
            </a:r>
          </a:p>
        </p:txBody>
      </p:sp>
    </p:spTree>
    <p:extLst>
      <p:ext uri="{BB962C8B-B14F-4D97-AF65-F5344CB8AC3E}">
        <p14:creationId xmlns:p14="http://schemas.microsoft.com/office/powerpoint/2010/main" val="1009921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7BDC7-8B1D-4038-B05A-2D7B68B9D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98866"/>
            <a:ext cx="7729728" cy="1188720"/>
          </a:xfrm>
        </p:spPr>
        <p:txBody>
          <a:bodyPr/>
          <a:lstStyle/>
          <a:p>
            <a:r>
              <a:rPr lang="en-IN" dirty="0"/>
              <a:t>Top 5 Countries with highest sales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921A544-8006-47F5-9C5C-DB9B619AFE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3921289"/>
              </p:ext>
            </p:extLst>
          </p:nvPr>
        </p:nvGraphicFramePr>
        <p:xfrm>
          <a:off x="2230438" y="1997476"/>
          <a:ext cx="7731124" cy="392392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865562">
                  <a:extLst>
                    <a:ext uri="{9D8B030D-6E8A-4147-A177-3AD203B41FA5}">
                      <a16:colId xmlns:a16="http://schemas.microsoft.com/office/drawing/2014/main" val="3453297479"/>
                    </a:ext>
                  </a:extLst>
                </a:gridCol>
                <a:gridCol w="3865562">
                  <a:extLst>
                    <a:ext uri="{9D8B030D-6E8A-4147-A177-3AD203B41FA5}">
                      <a16:colId xmlns:a16="http://schemas.microsoft.com/office/drawing/2014/main" val="2318444261"/>
                    </a:ext>
                  </a:extLst>
                </a:gridCol>
              </a:tblGrid>
              <a:tr h="65398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SALES(SUM)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8143171"/>
                  </a:ext>
                </a:extLst>
              </a:tr>
              <a:tr h="65398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United Kingdom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8,187,806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658695"/>
                  </a:ext>
                </a:extLst>
              </a:tr>
              <a:tr h="65398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Netherlands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284,662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985611"/>
                  </a:ext>
                </a:extLst>
              </a:tr>
              <a:tr h="65398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Germany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221,698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201548"/>
                  </a:ext>
                </a:extLst>
              </a:tr>
              <a:tr h="65398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197,404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127380"/>
                  </a:ext>
                </a:extLst>
              </a:tr>
              <a:tr h="65398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263,277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326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6015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26D7B-113E-4B3D-B8EE-3B10378FB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 5 stock Code with Highest Sales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941DD91-8B99-45E4-8E6E-2AA30C9F8D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6020657"/>
              </p:ext>
            </p:extLst>
          </p:nvPr>
        </p:nvGraphicFramePr>
        <p:xfrm>
          <a:off x="2230438" y="2638424"/>
          <a:ext cx="7731124" cy="310542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865562">
                  <a:extLst>
                    <a:ext uri="{9D8B030D-6E8A-4147-A177-3AD203B41FA5}">
                      <a16:colId xmlns:a16="http://schemas.microsoft.com/office/drawing/2014/main" val="461326435"/>
                    </a:ext>
                  </a:extLst>
                </a:gridCol>
                <a:gridCol w="3865562">
                  <a:extLst>
                    <a:ext uri="{9D8B030D-6E8A-4147-A177-3AD203B41FA5}">
                      <a16:colId xmlns:a16="http://schemas.microsoft.com/office/drawing/2014/main" val="438841399"/>
                    </a:ext>
                  </a:extLst>
                </a:gridCol>
              </a:tblGrid>
              <a:tr h="51757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STOCK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SALES(SUM)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930401"/>
                  </a:ext>
                </a:extLst>
              </a:tr>
              <a:tr h="51757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206,245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092160"/>
                  </a:ext>
                </a:extLst>
              </a:tr>
              <a:tr h="51757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22423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164,762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299816"/>
                  </a:ext>
                </a:extLst>
              </a:tr>
              <a:tr h="51757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85123A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99,847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715776"/>
                  </a:ext>
                </a:extLst>
              </a:tr>
              <a:tr h="51757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47566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98,303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0035116"/>
                  </a:ext>
                </a:extLst>
              </a:tr>
              <a:tr h="51757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85099B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92356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219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1143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D676F-44B7-417C-A898-0856EE430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 5 CUSTOMER ID WITH HIGHEST SALES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258E66B-363C-4731-858A-A8B784AB58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9643001"/>
              </p:ext>
            </p:extLst>
          </p:nvPr>
        </p:nvGraphicFramePr>
        <p:xfrm>
          <a:off x="2230438" y="2638424"/>
          <a:ext cx="7731123" cy="32548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77041">
                  <a:extLst>
                    <a:ext uri="{9D8B030D-6E8A-4147-A177-3AD203B41FA5}">
                      <a16:colId xmlns:a16="http://schemas.microsoft.com/office/drawing/2014/main" val="3515440617"/>
                    </a:ext>
                  </a:extLst>
                </a:gridCol>
                <a:gridCol w="2577041">
                  <a:extLst>
                    <a:ext uri="{9D8B030D-6E8A-4147-A177-3AD203B41FA5}">
                      <a16:colId xmlns:a16="http://schemas.microsoft.com/office/drawing/2014/main" val="4155108281"/>
                    </a:ext>
                  </a:extLst>
                </a:gridCol>
                <a:gridCol w="2577041">
                  <a:extLst>
                    <a:ext uri="{9D8B030D-6E8A-4147-A177-3AD203B41FA5}">
                      <a16:colId xmlns:a16="http://schemas.microsoft.com/office/drawing/2014/main" val="53931393"/>
                    </a:ext>
                  </a:extLst>
                </a:gridCol>
              </a:tblGrid>
              <a:tr h="54248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SALES(SUM)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COUNTRY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467899"/>
                  </a:ext>
                </a:extLst>
              </a:tr>
              <a:tr h="54248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14646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279,489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Netherlands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103702"/>
                  </a:ext>
                </a:extLst>
              </a:tr>
              <a:tr h="54248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18102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256,438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United Kingdom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003850"/>
                  </a:ext>
                </a:extLst>
              </a:tr>
              <a:tr h="54248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17450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187,482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United Kingdom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056174"/>
                  </a:ext>
                </a:extLst>
              </a:tr>
              <a:tr h="54248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14911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132,573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EIRE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724927"/>
                  </a:ext>
                </a:extLst>
              </a:tr>
              <a:tr h="54248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12415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123,725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Australia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548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9534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70D47-2708-4B6E-8B03-3B2F985EF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 5 Description with highest sales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D2D808B-980D-4873-8361-6CAE748952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3285114"/>
              </p:ext>
            </p:extLst>
          </p:nvPr>
        </p:nvGraphicFramePr>
        <p:xfrm>
          <a:off x="2230438" y="2638424"/>
          <a:ext cx="7731124" cy="32548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865562">
                  <a:extLst>
                    <a:ext uri="{9D8B030D-6E8A-4147-A177-3AD203B41FA5}">
                      <a16:colId xmlns:a16="http://schemas.microsoft.com/office/drawing/2014/main" val="3671070602"/>
                    </a:ext>
                  </a:extLst>
                </a:gridCol>
                <a:gridCol w="3865562">
                  <a:extLst>
                    <a:ext uri="{9D8B030D-6E8A-4147-A177-3AD203B41FA5}">
                      <a16:colId xmlns:a16="http://schemas.microsoft.com/office/drawing/2014/main" val="3142409718"/>
                    </a:ext>
                  </a:extLst>
                </a:gridCol>
              </a:tblGrid>
              <a:tr h="54248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SALES(SUM)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464120"/>
                  </a:ext>
                </a:extLst>
              </a:tr>
              <a:tr h="54248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Dotcom Postage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206,245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893521"/>
                  </a:ext>
                </a:extLst>
              </a:tr>
              <a:tr h="54248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Regency </a:t>
                      </a:r>
                      <a:r>
                        <a:rPr lang="en-IN" dirty="0" err="1"/>
                        <a:t>Cakestand</a:t>
                      </a:r>
                      <a:r>
                        <a:rPr lang="en-IN" dirty="0"/>
                        <a:t> 3 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164,762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067169"/>
                  </a:ext>
                </a:extLst>
              </a:tr>
              <a:tr h="54248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White Hanging Heart T-Light Holder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99,668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69134"/>
                  </a:ext>
                </a:extLst>
              </a:tr>
              <a:tr h="54248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Party Bunting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98,303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508564"/>
                  </a:ext>
                </a:extLst>
              </a:tr>
              <a:tr h="54248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Jumbo Bag Red </a:t>
                      </a:r>
                      <a:r>
                        <a:rPr lang="en-IN" dirty="0" err="1"/>
                        <a:t>Retrospot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92,356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512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939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BC7F9-86A1-4091-9237-7383BBB27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 Year, Month and Day with highest sales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35B42E3-AB18-4521-99F8-84816F6403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276883"/>
              </p:ext>
            </p:extLst>
          </p:nvPr>
        </p:nvGraphicFramePr>
        <p:xfrm>
          <a:off x="2230438" y="2638424"/>
          <a:ext cx="7731124" cy="27889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865562">
                  <a:extLst>
                    <a:ext uri="{9D8B030D-6E8A-4147-A177-3AD203B41FA5}">
                      <a16:colId xmlns:a16="http://schemas.microsoft.com/office/drawing/2014/main" val="2915121592"/>
                    </a:ext>
                  </a:extLst>
                </a:gridCol>
                <a:gridCol w="3865562">
                  <a:extLst>
                    <a:ext uri="{9D8B030D-6E8A-4147-A177-3AD203B41FA5}">
                      <a16:colId xmlns:a16="http://schemas.microsoft.com/office/drawing/2014/main" val="3468047570"/>
                    </a:ext>
                  </a:extLst>
                </a:gridCol>
              </a:tblGrid>
              <a:tr h="590132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512264"/>
                  </a:ext>
                </a:extLst>
              </a:tr>
              <a:tr h="590132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Sales :  8,998,791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Sales :   748,957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778076"/>
                  </a:ext>
                </a:extLst>
              </a:tr>
              <a:tr h="590132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November Sales :  1,461,756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December Sales :  748,857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010499"/>
                  </a:ext>
                </a:extLst>
              </a:tr>
              <a:tr h="101858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Day of Invoice Date :  14</a:t>
                      </a:r>
                    </a:p>
                    <a:p>
                      <a:pPr algn="ctr"/>
                      <a:r>
                        <a:rPr lang="en-IN" dirty="0"/>
                        <a:t>Sales :  112,141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Day of Invoice Date :  1</a:t>
                      </a:r>
                    </a:p>
                    <a:p>
                      <a:pPr algn="ctr"/>
                      <a:r>
                        <a:rPr lang="en-IN" dirty="0"/>
                        <a:t>Sales :  58,636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556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0581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3CB9E-3EEB-4B95-9D9C-820515FCE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NOVEMBER HAS HIGHEST SALES PROFIT AND DECEMBER HAS THE HIGHEST LOSS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86BDE4B-C8B5-425C-A5EE-2151C8F88E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1136" y="2405849"/>
            <a:ext cx="7729728" cy="415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589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BDA7C-E58C-4BB0-BB90-9FA1FCF83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/>
          <a:lstStyle/>
          <a:p>
            <a:r>
              <a:rPr lang="en-IN" dirty="0"/>
              <a:t>QUANTITY</a:t>
            </a:r>
          </a:p>
        </p:txBody>
      </p:sp>
    </p:spTree>
    <p:extLst>
      <p:ext uri="{BB962C8B-B14F-4D97-AF65-F5344CB8AC3E}">
        <p14:creationId xmlns:p14="http://schemas.microsoft.com/office/powerpoint/2010/main" val="3400474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4992B-AD82-4F4D-8B1A-F5EEFC922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 5 Stock Code with high quantity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4E4000B-A1F7-43CC-95A6-0F8F68D63B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2284535"/>
              </p:ext>
            </p:extLst>
          </p:nvPr>
        </p:nvGraphicFramePr>
        <p:xfrm>
          <a:off x="2230438" y="2638425"/>
          <a:ext cx="7731124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865562">
                  <a:extLst>
                    <a:ext uri="{9D8B030D-6E8A-4147-A177-3AD203B41FA5}">
                      <a16:colId xmlns:a16="http://schemas.microsoft.com/office/drawing/2014/main" val="3641479557"/>
                    </a:ext>
                  </a:extLst>
                </a:gridCol>
                <a:gridCol w="3865562">
                  <a:extLst>
                    <a:ext uri="{9D8B030D-6E8A-4147-A177-3AD203B41FA5}">
                      <a16:colId xmlns:a16="http://schemas.microsoft.com/office/drawing/2014/main" val="22558437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STOCK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QUANTITY(SUM)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835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85099B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47,363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824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85123a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39,122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018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20725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18,979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440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47566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18,022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869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22423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12,980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954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9585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9E525-40B5-4D87-9F65-F1A92FCFE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70332"/>
            <a:ext cx="7729728" cy="1032340"/>
          </a:xfrm>
        </p:spPr>
        <p:txBody>
          <a:bodyPr>
            <a:normAutofit fontScale="90000"/>
          </a:bodyPr>
          <a:lstStyle/>
          <a:p>
            <a:r>
              <a:rPr lang="en-IN" dirty="0"/>
              <a:t>MONTHLY CANCELLED ORDERS</a:t>
            </a:r>
            <a:br>
              <a:rPr lang="en-IN" dirty="0"/>
            </a:b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1867771-4029-4016-A1CA-321F862E41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1136" y="2405849"/>
            <a:ext cx="7729727" cy="41902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CAC2CC-B9BE-45D2-873C-174384E42571}"/>
              </a:ext>
            </a:extLst>
          </p:cNvPr>
          <p:cNvSpPr txBox="1"/>
          <p:nvPr/>
        </p:nvSpPr>
        <p:spPr>
          <a:xfrm>
            <a:off x="2231136" y="1547656"/>
            <a:ext cx="772972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:   Represents sales</a:t>
            </a:r>
          </a:p>
          <a:p>
            <a:r>
              <a:rPr lang="en-IN" sz="1600" dirty="0"/>
              <a:t>        :   Represents Quantity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B39E1FF-4229-4E5A-8562-9590D8C5599A}"/>
              </a:ext>
            </a:extLst>
          </p:cNvPr>
          <p:cNvSpPr/>
          <p:nvPr/>
        </p:nvSpPr>
        <p:spPr>
          <a:xfrm>
            <a:off x="2388093" y="1634962"/>
            <a:ext cx="186431" cy="1775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FA375BA-F777-4A0F-AB46-682DBC8D47BD}"/>
              </a:ext>
            </a:extLst>
          </p:cNvPr>
          <p:cNvSpPr/>
          <p:nvPr/>
        </p:nvSpPr>
        <p:spPr>
          <a:xfrm>
            <a:off x="2388093" y="1899085"/>
            <a:ext cx="186431" cy="17755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874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B313E0-BA6D-425E-A72B-772DBC968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/>
          <a:lstStyle/>
          <a:p>
            <a:r>
              <a:rPr lang="en-IN" dirty="0"/>
              <a:t>UNIT PRICE</a:t>
            </a:r>
          </a:p>
        </p:txBody>
      </p:sp>
    </p:spTree>
    <p:extLst>
      <p:ext uri="{BB962C8B-B14F-4D97-AF65-F5344CB8AC3E}">
        <p14:creationId xmlns:p14="http://schemas.microsoft.com/office/powerpoint/2010/main" val="962734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4CFB2-4E72-4317-8F3F-61A6EEDA1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 5 COUNTRY WITH HIGHEST UNIT PRICE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29718B5-6075-452B-A0DB-A4AD693378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2446706"/>
              </p:ext>
            </p:extLst>
          </p:nvPr>
        </p:nvGraphicFramePr>
        <p:xfrm>
          <a:off x="2230438" y="2638425"/>
          <a:ext cx="7731124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865562">
                  <a:extLst>
                    <a:ext uri="{9D8B030D-6E8A-4147-A177-3AD203B41FA5}">
                      <a16:colId xmlns:a16="http://schemas.microsoft.com/office/drawing/2014/main" val="1985765458"/>
                    </a:ext>
                  </a:extLst>
                </a:gridCol>
                <a:gridCol w="3865562">
                  <a:extLst>
                    <a:ext uri="{9D8B030D-6E8A-4147-A177-3AD203B41FA5}">
                      <a16:colId xmlns:a16="http://schemas.microsoft.com/office/drawing/2014/main" val="22382914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UNTI PRICE(SUM)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1880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United Kingdom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2,245,715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9275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48,447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723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43,032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20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Germany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37,666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40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Singapore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25,109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141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058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A0856-72F6-4914-B972-E5814A26C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43883"/>
            <a:ext cx="7729728" cy="1194624"/>
          </a:xfrm>
        </p:spPr>
        <p:txBody>
          <a:bodyPr/>
          <a:lstStyle/>
          <a:p>
            <a:r>
              <a:rPr lang="en-IN" dirty="0"/>
              <a:t>Sales of cancelled orders per country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7FB5A4B-3BEF-44B9-B8F9-BADA32A835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1136" y="1837679"/>
            <a:ext cx="7729728" cy="477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185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2B9ED-9681-454C-A0D5-E62401C0D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count as per range for qty, </a:t>
            </a:r>
            <a:r>
              <a:rPr lang="en-US"/>
              <a:t>Price, Sales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F4EF69-1829-4FD3-8F4B-9E1DDB948D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0438" y="2654710"/>
            <a:ext cx="7731125" cy="2762864"/>
          </a:xfrm>
        </p:spPr>
      </p:pic>
    </p:spTree>
    <p:extLst>
      <p:ext uri="{BB962C8B-B14F-4D97-AF65-F5344CB8AC3E}">
        <p14:creationId xmlns:p14="http://schemas.microsoft.com/office/powerpoint/2010/main" val="1444531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94C12-27AD-4232-A778-B60BA32F7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br>
              <a:rPr lang="en-IN" sz="20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Customer ID -12347 have 182 orders and country as Iceland</a:t>
            </a:r>
            <a:br>
              <a:rPr lang="en-IN" b="1" dirty="0">
                <a:solidFill>
                  <a:schemeClr val="tx1"/>
                </a:solidFill>
              </a:rPr>
            </a:b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B122967-ADD0-4A38-912B-D56388EA61A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1136" y="2638425"/>
            <a:ext cx="7729728" cy="310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547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5DD39-C34C-4FA7-8AB8-53EED9188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+mj-lt"/>
              </a:rPr>
              <a:t>Thursdays have max sales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3342FEF-6442-4304-8015-DE9F5C6D05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1136" y="2638425"/>
            <a:ext cx="7631955" cy="310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1746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4F377-9ED0-431F-8C49-4176F95BA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Quarterly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E6B91E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sales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 and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E76618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canceled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 orders</a:t>
            </a:r>
            <a:b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</a:b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	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6618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Cancel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 order sales value is almost consistent in all quarters</a:t>
            </a:r>
            <a:endParaRPr lang="en-IN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6433C589-6B3F-485B-BC15-A38DD68E18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0437" y="2476559"/>
            <a:ext cx="7731125" cy="2546737"/>
          </a:xfrm>
        </p:spPr>
      </p:pic>
    </p:spTree>
    <p:extLst>
      <p:ext uri="{BB962C8B-B14F-4D97-AF65-F5344CB8AC3E}">
        <p14:creationId xmlns:p14="http://schemas.microsoft.com/office/powerpoint/2010/main" val="1157537808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252</TotalTime>
  <Words>378</Words>
  <Application>Microsoft Office PowerPoint</Application>
  <PresentationFormat>Widescreen</PresentationFormat>
  <Paragraphs>171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Gill Sans MT</vt:lpstr>
      <vt:lpstr>Trebuchet MS</vt:lpstr>
      <vt:lpstr>Parcel</vt:lpstr>
      <vt:lpstr>Retail  e-commerce</vt:lpstr>
      <vt:lpstr>OBSERVATION affecting sales</vt:lpstr>
      <vt:lpstr>Sales Max benefited</vt:lpstr>
      <vt:lpstr>SALES</vt:lpstr>
      <vt:lpstr>Top 5 Countries with highest sales</vt:lpstr>
      <vt:lpstr>Top 5 stock Code with Highest Sales</vt:lpstr>
      <vt:lpstr>TOP 5 CUSTOMER ID WITH HIGHEST SALES</vt:lpstr>
      <vt:lpstr>Top 5 Description with highest sales</vt:lpstr>
      <vt:lpstr>Top Year, Month and Day with highest sales</vt:lpstr>
      <vt:lpstr>NOVEMBER HAS HIGHEST SALES PROFIT AND DECEMBER HAS THE HIGHEST LOSS</vt:lpstr>
      <vt:lpstr>QUANTITY</vt:lpstr>
      <vt:lpstr>Top 5 Stock Code with high quantity</vt:lpstr>
      <vt:lpstr>MONTHLY CANCELLED ORDERS </vt:lpstr>
      <vt:lpstr>UNIT PRICE</vt:lpstr>
      <vt:lpstr>TOP 5 COUNTRY WITH HIGHEST UNIT PRICE</vt:lpstr>
      <vt:lpstr>Sales of cancelled orders per country</vt:lpstr>
      <vt:lpstr>Order count as per range for qty, Price, Sales</vt:lpstr>
      <vt:lpstr>  Customer ID -12347 have 182 orders and country as Iceland </vt:lpstr>
      <vt:lpstr>Thursdays have max sales</vt:lpstr>
      <vt:lpstr>Quarterly sales and canceled orders  Cancel order sales value is almost consistent in all quarters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gkhatavkar99@gmail.com</dc:creator>
  <cp:lastModifiedBy>Hanika arora</cp:lastModifiedBy>
  <cp:revision>16</cp:revision>
  <dcterms:created xsi:type="dcterms:W3CDTF">2021-07-04T11:50:53Z</dcterms:created>
  <dcterms:modified xsi:type="dcterms:W3CDTF">2021-07-06T14:12:01Z</dcterms:modified>
</cp:coreProperties>
</file>